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502920" cy="502920"/>
          </a:xfrm>
          <a:prstGeom prst="ellipse">
            <a:avLst/>
          </a:prstGeom>
          <a:solidFill>
            <a:srgbClr val="D9A441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051560"/>
            <a:ext cx="310896" cy="310896"/>
          </a:xfrm>
          <a:prstGeom prst="ellipse">
            <a:avLst/>
          </a:prstGeom>
          <a:solidFill>
            <a:srgbClr val="8FB39B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1417320"/>
            <a:ext cx="256032" cy="256032"/>
          </a:xfrm>
          <a:prstGeom prst="ellipse">
            <a:avLst/>
          </a:prstGeom>
          <a:solidFill>
            <a:srgbClr val="2C6B4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02920"/>
            <a:ext cx="201168" cy="201168"/>
          </a:xfrm>
          <a:prstGeom prst="ellipse">
            <a:avLst/>
          </a:prstGeom>
          <a:solidFill>
            <a:srgbClr val="8FB39B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1737360"/>
            <a:ext cx="365760" cy="365760"/>
          </a:xfrm>
          <a:prstGeom prst="ellipse">
            <a:avLst/>
          </a:prstGeom>
          <a:solidFill>
            <a:srgbClr val="B8842B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0" y="1463040"/>
            <a:ext cx="274320" cy="274320"/>
          </a:xfrm>
          <a:prstGeom prst="ellipse">
            <a:avLst/>
          </a:prstGeom>
          <a:solidFill>
            <a:srgbClr val="2C6B4F">
              <a:alpha val="9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15400" y="868680"/>
            <a:ext cx="182880" cy="182880"/>
          </a:xfrm>
          <a:prstGeom prst="ellipse">
            <a:avLst/>
          </a:prstGeom>
          <a:solidFill>
            <a:srgbClr val="8FB39B">
              <a:alpha val="9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Harvest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Happens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Drone-Based Bloom Intelligence for Almond Yield Forecasting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validation report, tested against 167 real, weighed tree-harvests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 ·  ISRAEL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Forecasts Today Are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Guesswork Dressed Up as Data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growers rely on today,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predicted_Yield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built mostly from canopy and growth measurements, a clustering model's output, not a real weighing of the harvest.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reconstruct itself almost perfectly, 94 to 96 percent, when tested against its own ingredients. Tested against what actually came off the trees across 167 tree-harvests (2022-2023), that accuracy collapses to 29 percent.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965960"/>
            <a:ext cx="4160520" cy="3291840"/>
          </a:xfrm>
          <a:prstGeom prst="roundRect">
            <a:avLst>
              <a:gd name="adj" fmla="val 3889"/>
            </a:avLst>
          </a:prstGeom>
          <a:solidFill>
            <a:srgbClr val="EAF2ED"/>
          </a:solidFill>
          <a:ln/>
          <a:effectLst>
            <a:outerShdw sx="100000" sy="100000" kx="0" ky="0" algn="bl" rotWithShape="0" blurRad="101600" dist="38100" dir="5400000">
              <a:srgbClr val="1A2E2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2331720"/>
            <a:ext cx="4160520" cy="16440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15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648042" y="3975811"/>
            <a:ext cx="3494837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real, weighed harvest's variation explained by the existing model (r=0.54, p&lt;0.001, n=167)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Drone Flight in February.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You Can Trust in July.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17320" y="20482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 the orchard at bloom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414016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UAV pass in February extracts each tree's Enhanced Bloom Index (EBI) from 4-band imagery, per tree, not per block.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09981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cultivar identity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465576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intensity predicts yield in opposite directions by cultivar: UEF r=+0.29, cultivar 53 r=-0.26 (interaction F=11.58, p=0.0009). The model treats them differently, not as one average tree.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415137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winter chill and canopy growth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517136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 Portions (Dynamic Model) and spring canopy growth round out what the drone alone can't see.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566928" cy="566928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52029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against the real harvest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568696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checked against trees the model never saw during training, not just how well it fits its own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Comparison, Not Just the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across both cultivars, 167 tree-harvests, 2022-2023, Kedma Plot 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2651760"/>
        </p:xfrm>
        <a:graphic>
          <a:graphicData uri="http://schemas.openxmlformats.org/drawingml/2006/table">
            <a:tbl>
              <a:tblPr/>
              <a:tblGrid>
                <a:gridCol w="5486400"/>
                <a:gridCol w="1188720"/>
                <a:gridCol w="1371600"/>
                <a:gridCol w="1371600"/>
                <a:gridCol w="146304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model vs. real harvest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15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 vs. real harvest (fit to its own training data)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 vs. real harvest (cross-validated, the honest number)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 vs. existing model (agreement only, not accuracy)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2E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95604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R² numbers for our model?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is how well it fits the same data it was built on, always a bit optimistic. 46% is the stricter test: fit on some trees, checked on others it never saw. We report 46% throughout this deck because it is the number that predicts how the model performs on a new tree.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Matter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167 real, weighed tree-harvests, 2022-2023 · Kedma Plot 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1B3A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29%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harvest variation explained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model vs. the existing model)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1B3A2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5603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 kg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389120" y="3520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1.19 kg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4114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forecast error per tree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model vs. the existing model)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1B3A2C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5603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138160" y="3520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41148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average forecast error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tree, tree by tree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Also Checked the Two Models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Each Other</a:t>
            </a:r>
            <a:endParaRPr lang="en-US" sz="3200" dirty="0"/>
          </a:p>
        </p:txBody>
      </p:sp>
      <p:pic>
        <p:nvPicPr>
          <p:cNvPr id="3" name="Image 0" descr="/sessions/serene-gallant-brahmagupta/mnt/outputs/pitch_deck/media/chart4_byculti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6035040" cy="2971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86600" y="1874520"/>
            <a:ext cx="4434840" cy="3931920"/>
          </a:xfrm>
          <a:prstGeom prst="roundRect">
            <a:avLst>
              <a:gd name="adj" fmla="val 2791"/>
            </a:avLst>
          </a:prstGeom>
          <a:solidFill>
            <a:srgbClr val="EAF2ED"/>
          </a:solidFill>
          <a:ln/>
        </p:spPr>
      </p:sp>
      <p:sp>
        <p:nvSpPr>
          <p:cNvPr id="5" name="Text 2"/>
          <p:cNvSpPr/>
          <p:nvPr/>
        </p:nvSpPr>
        <p:spPr>
          <a:xfrm>
            <a:off x="7360920" y="21488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0.745  ·  R² = 55.6%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60920" y="26974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 agree fairly closely with each other.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60920" y="33375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agreement is expected, not reassuring on its own: both models use cultivar and overlapping growth measurements as inputs, so part of it simply comes from sharing ingredients.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60920" y="4709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agreeing is not the same as either one being right about the real harvest. Only the direct checks against actual yield, on the following pages, establish that.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Better Average.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Fit, Tree by Tree.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1060704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1A2E22">
                <a:alpha val="18000"/>
              </a:srgbClr>
            </a:outerShdw>
          </a:effectLst>
        </p:spPr>
      </p:sp>
      <p:pic>
        <p:nvPicPr>
          <p:cNvPr id="4" name="Image 0" descr="/sessions/serene-gallant-brahmagupta/mnt/outputs/pitch_deck/media/chart3_so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93392"/>
            <a:ext cx="10241280" cy="3465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742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ordered by actual yield (n=167). Our forecast tracks the real harvest closely across the whole range, especially the highest-yielding trees, where the existing model stays flat.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Against the Real Harvest,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Against Itself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1783080"/>
            <a:ext cx="932688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1A2E22">
                <a:alpha val="18000"/>
              </a:srgbClr>
            </a:outerShdw>
          </a:effectLst>
        </p:spPr>
      </p:sp>
      <p:pic>
        <p:nvPicPr>
          <p:cNvPr id="4" name="Image 0" descr="/sessions/serene-gallant-brahmagupta/mnt/outputs/pitch_deck/media/chart12_side_by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47672"/>
            <a:ext cx="8961120" cy="3511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7424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167 trees, same axis scale, side by side. Dots closer to the dashed diagonal are more accurate; our model's trend line tracks it far more closely than the existing model's.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Widens Exactly Where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Growers Need It Most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EAF2E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219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CULTIVAR: UEF  ·  n=96  ·  mean actual yield 3.38 kg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28.5% → 46.9%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4107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yield variation explained (existing model vs. ours, fit to training data)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error: 1.01 kg vs. 0.99 kg, about the same either way for this cultivar.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Bloom-yield direction: more bloom → more yield (r=+0.29)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1B3A2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2219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 53  ·  n=71  ·  mean actual yield 2.85 kg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 → 0.94 kg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3410712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forecast error per tree (existing model vs. ours), a 34% cut, the largest gain of any group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explained: 43.7% → 60.2% (fit to training data)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48463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Bloom-yield direction: more bloom → less yield (r=-0.26)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Story, Visually,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Cultivars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51560" y="1828800"/>
            <a:ext cx="101041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3E9E5"/>
            </a:solidFill>
            <a:prstDash val="solid"/>
          </a:ln>
          <a:effectLst>
            <a:outerShdw sx="100000" sy="100000" kx="0" ky="0" algn="bl" rotWithShape="0" blurRad="101600" dist="38100" dir="5400000">
              <a:srgbClr val="1A2E22">
                <a:alpha val="18000"/>
              </a:srgbClr>
            </a:outerShdw>
          </a:effectLst>
        </p:spPr>
      </p:sp>
      <p:pic>
        <p:nvPicPr>
          <p:cNvPr id="4" name="Image 0" descr="/sessions/serene-gallant-brahmagupta/mnt/outputs/pitch_deck/media/chart0_bycultiv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11680"/>
            <a:ext cx="973836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742432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(blue) sits closer to the real, weighed harvest than the existing model (orange) in both cultivars, on both variation explained and average error.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Actually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solidFill>
            <a:srgbClr val="1F4D3A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 ~  cultivar  +  bloom intensity × cultivar  +  winter chill  +  canopy growth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 intensity (EBI)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94760" y="2331720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Per-tree Enhanced Bloom Index extracted from February UAV 4-band imagery, the drone's core signal.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278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Cultivar interaction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4760" y="3227832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bloom-yield relationship is fit separately per cultivar, not averaged across them, since it runs in opposite directions (statistically confirmed: F=11.58, p=0.0009).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239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 chill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412394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 Portions from the Dynamic Model (Fishman et al. 1987), the standard scientific measure of chilling accumulation.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200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Canopy growth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5020056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Field-measured spring canopy growth, rounding out what bloom imagery alone can't capture.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by ordinary least squares regression on 167 tree-year observations (149 distinct trees, 2022-2023), the orchard's two best-represented cultivars, UEF and cultivar 53.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Tree-Level Forecast Unlocks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 planning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53312" y="235000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labor, storage, and logistics needs weeks before picking starts.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02920" cy="502920"/>
          </a:xfrm>
          <a:prstGeom prst="ellipse">
            <a:avLst/>
          </a:prstGeom>
          <a:solidFill>
            <a:srgbClr val="B8842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39712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Cultivar-specific management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39712" y="235000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blocks are underperforming before the yield gap shows up at the scale.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53312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Early-season insight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53312" y="431596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bloom signal is available in February, five months before harvest.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502920" cy="502920"/>
          </a:xfrm>
          <a:prstGeom prst="ellipse">
            <a:avLst/>
          </a:prstGeom>
          <a:solidFill>
            <a:srgbClr val="B8842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39712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39712" y="431596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drone-plus-model approach extends to any block with cultivar and bloom data.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Honestly, Built to Get Sharper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number in this deck is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tested on trees the model never saw during training (46% variation explained), not the more flattering 53% it reaches by matching its own training data. Current validation covers 162 measured-yield trees across the 2022 and 2023 seasons at Kedma Plot 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06070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E2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3703320"/>
            <a:ext cx="457200" cy="45720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3657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harvest seasons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measured season sharpens accuracy further, this is the single biggest lever, more so than any new feature or model.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489704"/>
            <a:ext cx="457200" cy="45720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4443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blocks and cultivars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439826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Plot A to validate the approach across the wider orchard (cultivar 54 and beyond).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5276088"/>
            <a:ext cx="457200" cy="457200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5230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signals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Water-stress and canopy-structure indices are already in testing and will be added once they clear the same cross-validation bar.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· Almond Yield Forecasting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274320" cy="274320"/>
          </a:xfrm>
          <a:prstGeom prst="ellipse">
            <a:avLst/>
          </a:prstGeom>
          <a:solidFill>
            <a:srgbClr val="D9A441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1097280"/>
            <a:ext cx="182880" cy="182880"/>
          </a:xfrm>
          <a:prstGeom prst="ellipse">
            <a:avLst/>
          </a:prstGeom>
          <a:solidFill>
            <a:srgbClr val="8FB39B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46304" cy="146304"/>
          </a:xfrm>
          <a:prstGeom prst="ellipse">
            <a:avLst/>
          </a:prstGeom>
          <a:solidFill>
            <a:srgbClr val="2C6B4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Orchard Already Tells You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Will Yield.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taught the drone to listen.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about bringing this to your orchard.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KEDMA PLOT A  ·  ISRAEL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2026-07-15T22:48:21Z</dcterms:created>
  <dcterms:modified xsi:type="dcterms:W3CDTF">2026-07-15T22:48:21Z</dcterms:modified>
</cp:coreProperties>
</file>